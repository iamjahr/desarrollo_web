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4630400" cy="8229600"/>
  <p:notesSz cx="8229600" cy="14630400"/>
  <p:embeddedFontLst>
    <p:embeddedFont>
      <p:font typeface="DM Sans Medium"/>
      <p:regular r:id="rId12"/>
    </p:embeddedFont>
    <p:embeddedFont>
      <p:font typeface="DM Sans Medium"/>
      <p:regular r:id="rId13"/>
    </p:embeddedFont>
    <p:embeddedFont>
      <p:font typeface="DM Sans Medium"/>
      <p:regular r:id="rId14"/>
    </p:embeddedFont>
    <p:embeddedFont>
      <p:font typeface="DM Sans Medium"/>
      <p:regular r:id="rId15"/>
    </p:embeddedFont>
    <p:embeddedFont>
      <p:font typeface="Inter"/>
      <p:regular r:id="rId16"/>
    </p:embeddedFont>
    <p:embeddedFont>
      <p:font typeface="Inter"/>
      <p:regular r:id="rId17"/>
    </p:embeddedFont>
    <p:embeddedFont>
      <p:font typeface="Inter"/>
      <p:regular r:id="rId18"/>
    </p:embeddedFont>
    <p:embeddedFont>
      <p:font typeface="Inter"/>
      <p:regular r:id="rId19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openxmlformats.org/officeDocument/2006/relationships/font" Target="fonts/font1.fntdata"/><Relationship Id="rId13" Type="http://schemas.openxmlformats.org/officeDocument/2006/relationships/font" Target="fonts/font2.fntdata"/><Relationship Id="rId14" Type="http://schemas.openxmlformats.org/officeDocument/2006/relationships/font" Target="fonts/font3.fntdata"/><Relationship Id="rId15" Type="http://schemas.openxmlformats.org/officeDocument/2006/relationships/font" Target="fonts/font4.fntdata"/><Relationship Id="rId16" Type="http://schemas.openxmlformats.org/officeDocument/2006/relationships/font" Target="fonts/font5.fntdata"/><Relationship Id="rId17" Type="http://schemas.openxmlformats.org/officeDocument/2006/relationships/font" Target="fonts/font6.fntdata"/><Relationship Id="rId18" Type="http://schemas.openxmlformats.org/officeDocument/2006/relationships/font" Target="fonts/font7.fntdata"/><Relationship Id="rId19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D31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D31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D31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D31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121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D31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5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6.xml"/><Relationship Id="rId4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198251"/>
            <a:ext cx="7556421" cy="1417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150"/>
              </a:lnSpc>
              <a:buNone/>
            </a:pPr>
            <a:r>
              <a:rPr lang="en-US" sz="890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Título</a:t>
            </a:r>
            <a:endParaRPr lang="en-US" sz="8900" dirty="0"/>
          </a:p>
        </p:txBody>
      </p:sp>
      <p:sp>
        <p:nvSpPr>
          <p:cNvPr id="4" name="Text 1"/>
          <p:cNvSpPr/>
          <p:nvPr/>
        </p:nvSpPr>
        <p:spPr>
          <a:xfrm>
            <a:off x="793790" y="3956090"/>
            <a:ext cx="7556421" cy="11339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450"/>
              </a:lnSpc>
              <a:buNone/>
            </a:pPr>
            <a:r>
              <a:rPr lang="en-US" sz="35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Estudio de Caso: Arquitectura Frontend de "Mundo Aventurero"</a:t>
            </a:r>
            <a:endParaRPr lang="en-US" sz="3550" dirty="0"/>
          </a:p>
        </p:txBody>
      </p:sp>
      <p:sp>
        <p:nvSpPr>
          <p:cNvPr id="5" name="Text 2"/>
          <p:cNvSpPr/>
          <p:nvPr/>
        </p:nvSpPr>
        <p:spPr>
          <a:xfrm>
            <a:off x="793790" y="5180767"/>
            <a:ext cx="7556421" cy="8505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Proyecto Base: HTML y CSS Puro para Máximo Rendimiento y Estabilidad</a:t>
            </a:r>
            <a:endParaRPr lang="en-US" sz="26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2708" y="880824"/>
            <a:ext cx="11334750" cy="6363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000"/>
              </a:lnSpc>
              <a:buNone/>
            </a:pPr>
            <a:r>
              <a:rPr lang="en-US" sz="400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Fundamentos del Proyecto y Stack Tecnológico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12708" y="1598652"/>
            <a:ext cx="5163622" cy="5091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000"/>
              </a:lnSpc>
              <a:buNone/>
            </a:pPr>
            <a:r>
              <a:rPr lang="en-US" sz="320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Objetivos Técnicos y Stack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12708" y="2189202"/>
            <a:ext cx="3054429" cy="3817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40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Objetivos Clave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12708" y="2876312"/>
            <a:ext cx="458152" cy="458153"/>
          </a:xfrm>
          <a:prstGeom prst="roundRect">
            <a:avLst>
              <a:gd name="adj" fmla="val 6667"/>
            </a:avLst>
          </a:prstGeom>
          <a:solidFill>
            <a:srgbClr val="4C5052"/>
          </a:solidFill>
          <a:ln/>
        </p:spPr>
      </p:sp>
      <p:sp>
        <p:nvSpPr>
          <p:cNvPr id="6" name="Text 4"/>
          <p:cNvSpPr/>
          <p:nvPr/>
        </p:nvSpPr>
        <p:spPr>
          <a:xfrm>
            <a:off x="789087" y="2914531"/>
            <a:ext cx="305395" cy="3817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24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374458" y="2946202"/>
            <a:ext cx="3570208" cy="6362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Diseño Responsivo Total (Mobile-First):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374458" y="3704630"/>
            <a:ext cx="3570208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Garantizar la adaptabilidad del layout usando solo Media Queries.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199102" y="2876312"/>
            <a:ext cx="458152" cy="458153"/>
          </a:xfrm>
          <a:prstGeom prst="roundRect">
            <a:avLst>
              <a:gd name="adj" fmla="val 6667"/>
            </a:avLst>
          </a:prstGeom>
          <a:solidFill>
            <a:srgbClr val="4C5052"/>
          </a:solidFill>
          <a:ln/>
        </p:spPr>
      </p:sp>
      <p:sp>
        <p:nvSpPr>
          <p:cNvPr id="10" name="Text 8"/>
          <p:cNvSpPr/>
          <p:nvPr/>
        </p:nvSpPr>
        <p:spPr>
          <a:xfrm>
            <a:off x="5275481" y="2914531"/>
            <a:ext cx="305395" cy="3817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24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2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5860852" y="2946202"/>
            <a:ext cx="3432334" cy="3181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Rendimiento y Optimización: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860852" y="3386495"/>
            <a:ext cx="3570327" cy="977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Priorizar la carga más rápida posible al eliminar el </a:t>
            </a:r>
            <a:pPr algn="l" indent="0" marL="0">
              <a:lnSpc>
                <a:spcPts val="2550"/>
              </a:lnSpc>
              <a:buNone/>
            </a:pPr>
            <a:r>
              <a:rPr lang="en-US" sz="1600" i="1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overhead</a:t>
            </a:r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de JavaScript.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9685615" y="2876312"/>
            <a:ext cx="458152" cy="458153"/>
          </a:xfrm>
          <a:prstGeom prst="roundRect">
            <a:avLst>
              <a:gd name="adj" fmla="val 6667"/>
            </a:avLst>
          </a:prstGeom>
          <a:solidFill>
            <a:srgbClr val="4C5052"/>
          </a:solidFill>
          <a:ln/>
        </p:spPr>
      </p:sp>
      <p:sp>
        <p:nvSpPr>
          <p:cNvPr id="14" name="Text 12"/>
          <p:cNvSpPr/>
          <p:nvPr/>
        </p:nvSpPr>
        <p:spPr>
          <a:xfrm>
            <a:off x="9761994" y="2914531"/>
            <a:ext cx="305395" cy="3817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24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3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0347365" y="2946202"/>
            <a:ext cx="2545437" cy="3181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HTML Semántico: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0347365" y="3386495"/>
            <a:ext cx="3570327" cy="977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Utilización estricta de etiquetas (</a:t>
            </a:r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D6D9D7"/>
                </a:solidFill>
                <a:highlight>
                  <a:srgbClr val="3A3E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&lt;header&gt;</a:t>
            </a:r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D6D9D7"/>
                </a:solidFill>
                <a:highlight>
                  <a:srgbClr val="3A3E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&lt;section&gt;</a:t>
            </a:r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D6D9D7"/>
                </a:solidFill>
                <a:highlight>
                  <a:srgbClr val="3A3E40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&lt;footer&gt;</a:t>
            </a:r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) para SEO y accesibilidad.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12708" y="4694585"/>
            <a:ext cx="13204984" cy="32980"/>
          </a:xfrm>
          <a:prstGeom prst="rect">
            <a:avLst/>
          </a:prstGeom>
          <a:solidFill>
            <a:srgbClr val="D6D9D7">
              <a:alpha val="50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712708" y="5032891"/>
            <a:ext cx="3054429" cy="3817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40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Stack Tecnológico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712708" y="5903238"/>
            <a:ext cx="6354128" cy="3257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50"/>
              </a:lnSpc>
              <a:buSzPct val="100000"/>
              <a:buChar char="•"/>
            </a:pPr>
            <a:r>
              <a:rPr lang="en-US" sz="1600" b="1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Lenguajes Base:</a:t>
            </a:r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BE49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HTML5</a:t>
            </a:r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y </a:t>
            </a:r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BE49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CSS3 Puro</a:t>
            </a:r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12708" y="6300192"/>
            <a:ext cx="6354128" cy="977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550"/>
              </a:lnSpc>
              <a:buSzPct val="100000"/>
              <a:buChar char="•"/>
            </a:pPr>
            <a:r>
              <a:rPr lang="en-US" sz="1600" b="1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Estilización:</a:t>
            </a:r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BE49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CSS3 Puro</a:t>
            </a:r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(Uso de CSS modular, Variables CSS (</a:t>
            </a:r>
            <a:pPr algn="l" indent="0" marL="0">
              <a:lnSpc>
                <a:spcPts val="2550"/>
              </a:lnSpc>
              <a:buNone/>
            </a:pPr>
            <a:r>
              <a:rPr lang="en-US" sz="1600" i="1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 Properties</a:t>
            </a:r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) y un sistema de grillas </a:t>
            </a:r>
            <a:pPr algn="l" indent="0" marL="0">
              <a:lnSpc>
                <a:spcPts val="2550"/>
              </a:lnSpc>
              <a:buNone/>
            </a:pPr>
            <a:r>
              <a:rPr lang="en-US" sz="1600" i="1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</a:t>
            </a:r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para la gestión del layout).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571184" y="5903238"/>
            <a:ext cx="6354128" cy="3257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50"/>
              </a:lnSpc>
              <a:buSzPct val="100000"/>
              <a:buChar char="•"/>
            </a:pPr>
            <a:r>
              <a:rPr lang="en-US" sz="1600" b="1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Hosting &amp; CI/CD:</a:t>
            </a:r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BE49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Netlify</a:t>
            </a:r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(Despliegue continuo).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571184" y="6300192"/>
            <a:ext cx="6354128" cy="977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550"/>
              </a:lnSpc>
              <a:buSzPct val="100000"/>
              <a:buChar char="•"/>
            </a:pPr>
            <a:r>
              <a:rPr lang="en-US" sz="1600" b="1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Arquitectura:</a:t>
            </a:r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BE49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Estructura de Contenido Estático</a:t>
            </a:r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(Énfasis en la reutilización de bloques de código a través de nomenclatura de clases consistente y estructura HTML anidada).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4489" y="530423"/>
            <a:ext cx="7384971" cy="6022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700"/>
              </a:lnSpc>
              <a:buNone/>
            </a:pPr>
            <a:r>
              <a:rPr lang="en-US" sz="37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Manejo de Layout y Data Display</a:t>
            </a:r>
            <a:endParaRPr lang="en-US" sz="3750" dirty="0"/>
          </a:p>
        </p:txBody>
      </p:sp>
      <p:sp>
        <p:nvSpPr>
          <p:cNvPr id="3" name="Text 1"/>
          <p:cNvSpPr/>
          <p:nvPr/>
        </p:nvSpPr>
        <p:spPr>
          <a:xfrm>
            <a:off x="674489" y="1209675"/>
            <a:ext cx="7994928" cy="4817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750"/>
              </a:lnSpc>
              <a:buNone/>
            </a:pPr>
            <a:r>
              <a:rPr lang="en-US" sz="300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Responsividad y Visualización de Contenido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74489" y="1768435"/>
            <a:ext cx="3433286" cy="361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Componentes Modulares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674489" y="2418874"/>
            <a:ext cx="13281422" cy="308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sitio está construido con bloques reutilizables diseñados con CSS: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74489" y="2944058"/>
            <a:ext cx="6544389" cy="2081093"/>
          </a:xfrm>
          <a:prstGeom prst="roundRect">
            <a:avLst>
              <a:gd name="adj" fmla="val 5273"/>
            </a:avLst>
          </a:prstGeom>
          <a:solidFill>
            <a:srgbClr val="2D3133"/>
          </a:solidFill>
          <a:ln w="22860">
            <a:solidFill>
              <a:srgbClr val="65696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51629" y="2944058"/>
            <a:ext cx="91440" cy="2081093"/>
          </a:xfrm>
          <a:prstGeom prst="roundRect">
            <a:avLst>
              <a:gd name="adj" fmla="val 31616"/>
            </a:avLst>
          </a:prstGeom>
          <a:solidFill>
            <a:srgbClr val="AC9EF5"/>
          </a:solidFill>
          <a:ln/>
        </p:spPr>
      </p:sp>
      <p:sp>
        <p:nvSpPr>
          <p:cNvPr id="8" name="Text 6"/>
          <p:cNvSpPr/>
          <p:nvPr/>
        </p:nvSpPr>
        <p:spPr>
          <a:xfrm>
            <a:off x="958572" y="3159562"/>
            <a:ext cx="2409111" cy="3009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Cards de Destino:</a:t>
            </a:r>
            <a:endParaRPr lang="en-US" sz="1850" dirty="0"/>
          </a:p>
        </p:txBody>
      </p:sp>
      <p:sp>
        <p:nvSpPr>
          <p:cNvPr id="9" name="Text 7"/>
          <p:cNvSpPr/>
          <p:nvPr/>
        </p:nvSpPr>
        <p:spPr>
          <a:xfrm>
            <a:off x="958572" y="3576161"/>
            <a:ext cx="6044803" cy="9251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Uso de </a:t>
            </a:r>
            <a:pPr algn="l" indent="0" marL="0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CSS Grid o Flexbox</a:t>
            </a:r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para organizar las imágenes y títulos en diseños flexibles que se reorganizan automáticamente en pantallas pequeñas.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411522" y="2944058"/>
            <a:ext cx="6544389" cy="2081093"/>
          </a:xfrm>
          <a:prstGeom prst="roundRect">
            <a:avLst>
              <a:gd name="adj" fmla="val 5273"/>
            </a:avLst>
          </a:prstGeom>
          <a:solidFill>
            <a:srgbClr val="2D3133"/>
          </a:solidFill>
          <a:ln w="22860">
            <a:solidFill>
              <a:srgbClr val="65696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88662" y="2944058"/>
            <a:ext cx="91440" cy="2081093"/>
          </a:xfrm>
          <a:prstGeom prst="roundRect">
            <a:avLst>
              <a:gd name="adj" fmla="val 31616"/>
            </a:avLst>
          </a:prstGeom>
          <a:solidFill>
            <a:srgbClr val="AC9EF5"/>
          </a:solidFill>
          <a:ln/>
        </p:spPr>
      </p:sp>
      <p:sp>
        <p:nvSpPr>
          <p:cNvPr id="12" name="Text 10"/>
          <p:cNvSpPr/>
          <p:nvPr/>
        </p:nvSpPr>
        <p:spPr>
          <a:xfrm>
            <a:off x="7695605" y="3159562"/>
            <a:ext cx="2409111" cy="3009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Tabla de Paquetes:</a:t>
            </a:r>
            <a:endParaRPr lang="en-US" sz="1850" dirty="0"/>
          </a:p>
        </p:txBody>
      </p:sp>
      <p:sp>
        <p:nvSpPr>
          <p:cNvPr id="13" name="Text 11"/>
          <p:cNvSpPr/>
          <p:nvPr/>
        </p:nvSpPr>
        <p:spPr>
          <a:xfrm>
            <a:off x="7695605" y="3576161"/>
            <a:ext cx="6044803" cy="12334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Implementación de tablas usando </a:t>
            </a:r>
            <a:pPr algn="l" indent="0" marL="0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CSS Table Display</a:t>
            </a:r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que mantienen la estructura y la legibilidad en escritorio, con un cambio de estilo forzado para ser </a:t>
            </a:r>
            <a:pPr algn="l" indent="0" marL="0">
              <a:lnSpc>
                <a:spcPts val="2400"/>
              </a:lnSpc>
              <a:buNone/>
            </a:pPr>
            <a:r>
              <a:rPr lang="en-US" sz="1500" i="1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scrollable</a:t>
            </a:r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horizontalmente en móvil.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74489" y="5314236"/>
            <a:ext cx="2890957" cy="361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Diseño Mobile-First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674489" y="5964674"/>
            <a:ext cx="13281422" cy="308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Implementación a través de </a:t>
            </a:r>
            <a:pPr algn="l" indent="0" marL="0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Media Queries nativas de CSS</a:t>
            </a:r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para definir puntos de quiebre (breakpoints) específicos sin librerías externas.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74489" y="6489859"/>
            <a:ext cx="13281422" cy="308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Uso de </a:t>
            </a:r>
            <a:pPr algn="l" indent="0" marL="0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unidades relativas</a:t>
            </a:r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(%, vw, rem) y </a:t>
            </a:r>
            <a:pPr algn="l" indent="0" marL="0">
              <a:lnSpc>
                <a:spcPts val="2400"/>
              </a:lnSpc>
              <a:buNone/>
            </a:pPr>
            <a:r>
              <a:rPr lang="en-US" sz="1500" b="1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CSS Custom Properties</a:t>
            </a:r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para: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74489" y="7015043"/>
            <a:ext cx="13281422" cy="308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Gestión del espaciado, tipografía y paleta de colores de forma centralizada.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74489" y="7390805"/>
            <a:ext cx="13281422" cy="3083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Reorganización dinámica del layout mediante Flexbox y Grid, garantizando la fluidez.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1845" y="370761"/>
            <a:ext cx="8249364" cy="4212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Componentes Interactivos y Multimedia (CSS-Only)</a:t>
            </a:r>
            <a:endParaRPr lang="en-US" sz="2650" dirty="0"/>
          </a:p>
        </p:txBody>
      </p:sp>
      <p:sp>
        <p:nvSpPr>
          <p:cNvPr id="3" name="Text 1"/>
          <p:cNvSpPr/>
          <p:nvPr/>
        </p:nvSpPr>
        <p:spPr>
          <a:xfrm>
            <a:off x="471845" y="845939"/>
            <a:ext cx="4655106" cy="337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Simulando Dinamismo sin JavaScript</a:t>
            </a:r>
            <a:endParaRPr lang="en-US" sz="21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1039" y="1385173"/>
            <a:ext cx="13248323" cy="4971336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05211" y="2651461"/>
            <a:ext cx="684324" cy="684324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1395522" y="5149671"/>
            <a:ext cx="1998225" cy="384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3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Carousel</a:t>
            </a:r>
            <a:endParaRPr lang="en-US" sz="13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99945" y="2652745"/>
            <a:ext cx="684324" cy="684324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8877210" y="5149671"/>
            <a:ext cx="1998226" cy="384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3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Cabecera</a:t>
            </a:r>
            <a:endParaRPr lang="en-US" sz="1350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5320" y="2652745"/>
            <a:ext cx="684324" cy="684324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6372585" y="5149671"/>
            <a:ext cx="1998225" cy="384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3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:checked</a:t>
            </a:r>
            <a:endParaRPr lang="en-US" sz="1350" dirty="0"/>
          </a:p>
        </p:txBody>
      </p:sp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90694" y="2652745"/>
            <a:ext cx="684324" cy="684324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3867960" y="4957205"/>
            <a:ext cx="1998225" cy="769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3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Navbar Collapsible</a:t>
            </a:r>
            <a:endParaRPr lang="en-US" sz="1350" dirty="0"/>
          </a:p>
        </p:txBody>
      </p:sp>
      <p:pic>
        <p:nvPicPr>
          <p:cNvPr id="1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72383" y="2652745"/>
            <a:ext cx="684324" cy="684324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1308589" y="5149671"/>
            <a:ext cx="1998226" cy="384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3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Navegación</a:t>
            </a:r>
            <a:endParaRPr lang="en-US" sz="1350" dirty="0"/>
          </a:p>
        </p:txBody>
      </p:sp>
      <p:sp>
        <p:nvSpPr>
          <p:cNvPr id="15" name="Text 7"/>
          <p:cNvSpPr/>
          <p:nvPr/>
        </p:nvSpPr>
        <p:spPr>
          <a:xfrm>
            <a:off x="471845" y="6558677"/>
            <a:ext cx="2255282" cy="2527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Navegación y Cabecera</a:t>
            </a:r>
            <a:endParaRPr lang="en-US" sz="1550" dirty="0"/>
          </a:p>
        </p:txBody>
      </p:sp>
      <p:sp>
        <p:nvSpPr>
          <p:cNvPr id="16" name="Text 8"/>
          <p:cNvSpPr/>
          <p:nvPr/>
        </p:nvSpPr>
        <p:spPr>
          <a:xfrm>
            <a:off x="471845" y="7013615"/>
            <a:ext cx="13686711" cy="2157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650"/>
              </a:lnSpc>
              <a:buSzPct val="100000"/>
              <a:buChar char="•"/>
            </a:pPr>
            <a:r>
              <a:rPr lang="en-US" sz="1050" b="1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Navbar Colapsable:</a:t>
            </a:r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Implementación del menú de hamburguesa mediante la </a:t>
            </a:r>
            <a:pPr algn="l" indent="0" marL="0">
              <a:lnSpc>
                <a:spcPts val="1650"/>
              </a:lnSpc>
              <a:buNone/>
            </a:pPr>
            <a:r>
              <a:rPr lang="en-US" sz="1050" b="1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técnica CSS-only</a:t>
            </a:r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(usando un </a:t>
            </a:r>
            <a:pPr algn="l" indent="0" marL="0">
              <a:lnSpc>
                <a:spcPts val="1650"/>
              </a:lnSpc>
              <a:buNone/>
            </a:pPr>
            <a:r>
              <a:rPr lang="en-US" sz="1050" i="1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checkbox</a:t>
            </a:r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oculto y la pseudo-clase </a:t>
            </a:r>
            <a:pPr algn="l" indent="0" marL="0">
              <a:lnSpc>
                <a:spcPts val="1650"/>
              </a:lnSpc>
              <a:buNone/>
            </a:pPr>
            <a:r>
              <a:rPr lang="en-US" sz="1050" b="1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:checked</a:t>
            </a:r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) para gestionar la apertura y cierre de la navegación.</a:t>
            </a:r>
            <a:endParaRPr lang="en-US" sz="1050" dirty="0"/>
          </a:p>
        </p:txBody>
      </p:sp>
      <p:sp>
        <p:nvSpPr>
          <p:cNvPr id="17" name="Text 9"/>
          <p:cNvSpPr/>
          <p:nvPr/>
        </p:nvSpPr>
        <p:spPr>
          <a:xfrm>
            <a:off x="471845" y="7276505"/>
            <a:ext cx="13686711" cy="2157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650"/>
              </a:lnSpc>
              <a:buSzPct val="100000"/>
              <a:buChar char="•"/>
            </a:pPr>
            <a:r>
              <a:rPr lang="en-US" sz="1050" b="1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Carrousel de Imágenes (Hero Section):</a:t>
            </a:r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Logrado mediante técnicas puras de CSS como </a:t>
            </a:r>
            <a:pPr algn="l" indent="0" marL="0">
              <a:lnSpc>
                <a:spcPts val="1650"/>
              </a:lnSpc>
              <a:buNone/>
            </a:pPr>
            <a:r>
              <a:rPr lang="en-US" sz="1050" b="1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Scroll Snap</a:t>
            </a:r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 la pseudo-clase </a:t>
            </a:r>
            <a:pPr algn="l" indent="0" marL="0">
              <a:lnSpc>
                <a:spcPts val="1650"/>
              </a:lnSpc>
              <a:buNone/>
            </a:pPr>
            <a:r>
              <a:rPr lang="en-US" sz="1050" b="1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:target</a:t>
            </a:r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para transicionar entre slides, usando animaciones CSS para un movimiento suave.</a:t>
            </a:r>
            <a:endParaRPr lang="en-US" sz="1050" dirty="0"/>
          </a:p>
        </p:txBody>
      </p:sp>
      <p:sp>
        <p:nvSpPr>
          <p:cNvPr id="18" name="Text 10"/>
          <p:cNvSpPr/>
          <p:nvPr/>
        </p:nvSpPr>
        <p:spPr>
          <a:xfrm>
            <a:off x="471845" y="7694414"/>
            <a:ext cx="2195393" cy="2527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Interacción del Usuario</a:t>
            </a:r>
            <a:endParaRPr lang="en-US" sz="1550" dirty="0"/>
          </a:p>
        </p:txBody>
      </p:sp>
      <p:sp>
        <p:nvSpPr>
          <p:cNvPr id="19" name="Text 11"/>
          <p:cNvSpPr/>
          <p:nvPr/>
        </p:nvSpPr>
        <p:spPr>
          <a:xfrm>
            <a:off x="471845" y="8149352"/>
            <a:ext cx="13686711" cy="2157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</a:t>
            </a:r>
            <a:pPr algn="l" indent="0" marL="0">
              <a:lnSpc>
                <a:spcPts val="1650"/>
              </a:lnSpc>
              <a:buNone/>
            </a:pPr>
            <a:r>
              <a:rPr lang="en-US" sz="1050" i="1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feedback</a:t>
            </a:r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visual (ej. botones, enlaces) se maneja exclusivamente con pseudo-clases CSS como </a:t>
            </a:r>
            <a:pPr algn="l" indent="0" marL="0">
              <a:lnSpc>
                <a:spcPts val="1650"/>
              </a:lnSpc>
              <a:buNone/>
            </a:pPr>
            <a:r>
              <a:rPr lang="en-US" sz="1050" b="1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:hover</a:t>
            </a:r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pPr algn="l" indent="0" marL="0">
              <a:lnSpc>
                <a:spcPts val="1650"/>
              </a:lnSpc>
              <a:buNone/>
            </a:pPr>
            <a:r>
              <a:rPr lang="en-US" sz="1050" b="1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:active</a:t>
            </a:r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y </a:t>
            </a:r>
            <a:pPr algn="l" indent="0" marL="0">
              <a:lnSpc>
                <a:spcPts val="1650"/>
              </a:lnSpc>
              <a:buNone/>
            </a:pPr>
            <a:r>
              <a:rPr lang="en-US" sz="1050" b="1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:focus</a:t>
            </a:r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para una experiencia de usuario (UX) rápida y nativa del navegador.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8527" y="470297"/>
            <a:ext cx="8555593" cy="534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33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Despliegue, Rendimiento y Próximos Pasos</a:t>
            </a:r>
            <a:endParaRPr lang="en-US" sz="3350" dirty="0"/>
          </a:p>
        </p:txBody>
      </p:sp>
      <p:sp>
        <p:nvSpPr>
          <p:cNvPr id="3" name="Text 1"/>
          <p:cNvSpPr/>
          <p:nvPr/>
        </p:nvSpPr>
        <p:spPr>
          <a:xfrm>
            <a:off x="598527" y="1072991"/>
            <a:ext cx="5177076" cy="427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50"/>
              </a:lnSpc>
              <a:buNone/>
            </a:pPr>
            <a:r>
              <a:rPr lang="en-US" sz="265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Optimización y Roadmap Futuro</a:t>
            </a:r>
            <a:endParaRPr lang="en-US" sz="2650" dirty="0"/>
          </a:p>
        </p:txBody>
      </p:sp>
      <p:sp>
        <p:nvSpPr>
          <p:cNvPr id="4" name="Text 2"/>
          <p:cNvSpPr/>
          <p:nvPr/>
        </p:nvSpPr>
        <p:spPr>
          <a:xfrm>
            <a:off x="598527" y="1568887"/>
            <a:ext cx="3551277" cy="320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🚀</a:t>
            </a:r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 Despliegue y Performance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98527" y="2145983"/>
            <a:ext cx="6631186" cy="1942505"/>
          </a:xfrm>
          <a:prstGeom prst="roundRect">
            <a:avLst>
              <a:gd name="adj" fmla="val 1321"/>
            </a:avLst>
          </a:prstGeom>
          <a:solidFill>
            <a:srgbClr val="4C5052"/>
          </a:solidFill>
          <a:ln/>
        </p:spPr>
      </p:sp>
      <p:sp>
        <p:nvSpPr>
          <p:cNvPr id="6" name="Shape 4"/>
          <p:cNvSpPr/>
          <p:nvPr/>
        </p:nvSpPr>
        <p:spPr>
          <a:xfrm>
            <a:off x="769501" y="2316956"/>
            <a:ext cx="513040" cy="513040"/>
          </a:xfrm>
          <a:prstGeom prst="roundRect">
            <a:avLst>
              <a:gd name="adj" fmla="val 17821389"/>
            </a:avLst>
          </a:prstGeom>
          <a:solidFill>
            <a:srgbClr val="AC9EF5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0590" y="2429232"/>
            <a:ext cx="230862" cy="28848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69501" y="3000970"/>
            <a:ext cx="2137648" cy="2670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6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Carga Instantánea: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769501" y="3370540"/>
            <a:ext cx="6289238" cy="5469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3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 no tener un </a:t>
            </a:r>
            <a:pPr algn="l" indent="0" marL="0">
              <a:lnSpc>
                <a:spcPts val="2150"/>
              </a:lnSpc>
              <a:buNone/>
            </a:pPr>
            <a:r>
              <a:rPr lang="en-US" sz="1300" i="1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bundle</a:t>
            </a:r>
            <a:pPr algn="l" indent="0" marL="0">
              <a:lnSpc>
                <a:spcPts val="2150"/>
              </a:lnSpc>
              <a:buNone/>
            </a:pPr>
            <a:r>
              <a:rPr lang="en-US" sz="13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de JavaScript, la carga de la página es casi instantánea, un beneficio clave de esta arquitectura </a:t>
            </a:r>
            <a:pPr algn="l" indent="0" marL="0">
              <a:lnSpc>
                <a:spcPts val="2150"/>
              </a:lnSpc>
              <a:buNone/>
            </a:pPr>
            <a:r>
              <a:rPr lang="en-US" sz="1300" i="1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lean</a:t>
            </a:r>
            <a:pPr algn="l" indent="0" marL="0">
              <a:lnSpc>
                <a:spcPts val="2150"/>
              </a:lnSpc>
              <a:buNone/>
            </a:pPr>
            <a:r>
              <a:rPr lang="en-US" sz="13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7400687" y="2145983"/>
            <a:ext cx="6631186" cy="1942505"/>
          </a:xfrm>
          <a:prstGeom prst="roundRect">
            <a:avLst>
              <a:gd name="adj" fmla="val 1321"/>
            </a:avLst>
          </a:prstGeom>
          <a:solidFill>
            <a:srgbClr val="4C5052"/>
          </a:solidFill>
          <a:ln/>
        </p:spPr>
      </p:sp>
      <p:sp>
        <p:nvSpPr>
          <p:cNvPr id="11" name="Shape 8"/>
          <p:cNvSpPr/>
          <p:nvPr/>
        </p:nvSpPr>
        <p:spPr>
          <a:xfrm>
            <a:off x="7571661" y="2316956"/>
            <a:ext cx="513040" cy="513040"/>
          </a:xfrm>
          <a:prstGeom prst="roundRect">
            <a:avLst>
              <a:gd name="adj" fmla="val 17821389"/>
            </a:avLst>
          </a:prstGeom>
          <a:solidFill>
            <a:srgbClr val="AC9EF5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2750" y="2429232"/>
            <a:ext cx="230862" cy="28848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571661" y="3000970"/>
            <a:ext cx="2137648" cy="2670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6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Hosting en Netlify:</a:t>
            </a:r>
            <a:endParaRPr lang="en-US" sz="1650" dirty="0"/>
          </a:p>
        </p:txBody>
      </p:sp>
      <p:sp>
        <p:nvSpPr>
          <p:cNvPr id="14" name="Text 10"/>
          <p:cNvSpPr/>
          <p:nvPr/>
        </p:nvSpPr>
        <p:spPr>
          <a:xfrm>
            <a:off x="7571661" y="3370540"/>
            <a:ext cx="6289238" cy="5469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3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Utilización de su </a:t>
            </a:r>
            <a:pPr algn="l" indent="0" marL="0">
              <a:lnSpc>
                <a:spcPts val="2150"/>
              </a:lnSpc>
              <a:buNone/>
            </a:pPr>
            <a:r>
              <a:rPr lang="en-US" sz="1300" b="1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CDN</a:t>
            </a:r>
            <a:pPr algn="l" indent="0" marL="0">
              <a:lnSpc>
                <a:spcPts val="2150"/>
              </a:lnSpc>
              <a:buNone/>
            </a:pPr>
            <a:r>
              <a:rPr lang="en-US" sz="13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global y características de </a:t>
            </a:r>
            <a:pPr algn="l" indent="0" marL="0">
              <a:lnSpc>
                <a:spcPts val="2150"/>
              </a:lnSpc>
              <a:buNone/>
            </a:pPr>
            <a:r>
              <a:rPr lang="en-US" sz="1300" b="1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despliegue continuo</a:t>
            </a:r>
            <a:pPr algn="l" indent="0" marL="0">
              <a:lnSpc>
                <a:spcPts val="2150"/>
              </a:lnSpc>
              <a:buNone/>
            </a:pPr>
            <a:r>
              <a:rPr lang="en-US" sz="13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para una entrega rápida y fiable.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598527" y="4344948"/>
            <a:ext cx="2565202" cy="320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📝</a:t>
            </a:r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F7F7F8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 Roadmap Técnico</a:t>
            </a:r>
            <a:endParaRPr lang="en-US" sz="2000" dirty="0"/>
          </a:p>
        </p:txBody>
      </p:sp>
      <p:sp>
        <p:nvSpPr>
          <p:cNvPr id="16" name="Text 12"/>
          <p:cNvSpPr/>
          <p:nvPr/>
        </p:nvSpPr>
        <p:spPr>
          <a:xfrm>
            <a:off x="598527" y="4922044"/>
            <a:ext cx="170974" cy="2137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300" dirty="0">
                <a:solidFill>
                  <a:srgbClr val="D6D9D7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01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598527" y="5189815"/>
            <a:ext cx="4363760" cy="22860"/>
          </a:xfrm>
          <a:prstGeom prst="rect">
            <a:avLst/>
          </a:prstGeom>
          <a:solidFill>
            <a:srgbClr val="AC9EF5"/>
          </a:solidFill>
          <a:ln/>
        </p:spPr>
      </p:sp>
      <p:sp>
        <p:nvSpPr>
          <p:cNvPr id="18" name="Text 14"/>
          <p:cNvSpPr/>
          <p:nvPr/>
        </p:nvSpPr>
        <p:spPr>
          <a:xfrm>
            <a:off x="598527" y="5321022"/>
            <a:ext cx="2995970" cy="2670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6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Integración de Datos (Fase 2):</a:t>
            </a:r>
            <a:endParaRPr lang="en-US" sz="1650" dirty="0"/>
          </a:p>
        </p:txBody>
      </p:sp>
      <p:sp>
        <p:nvSpPr>
          <p:cNvPr id="19" name="Text 15"/>
          <p:cNvSpPr/>
          <p:nvPr/>
        </p:nvSpPr>
        <p:spPr>
          <a:xfrm>
            <a:off x="598527" y="5690592"/>
            <a:ext cx="4363760" cy="10939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3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Evaluación de un </a:t>
            </a:r>
            <a:pPr algn="l" indent="0" marL="0">
              <a:lnSpc>
                <a:spcPts val="2150"/>
              </a:lnSpc>
              <a:buNone/>
            </a:pPr>
            <a:r>
              <a:rPr lang="en-US" sz="1300" b="1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Generador de Sitios Estáticos (SSG)</a:t>
            </a:r>
            <a:pPr algn="l" indent="0" marL="0">
              <a:lnSpc>
                <a:spcPts val="2150"/>
              </a:lnSpc>
              <a:buNone/>
            </a:pPr>
            <a:r>
              <a:rPr lang="en-US" sz="13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(ej. Astro, Jekyll) para inyectar datos de destinos de forma programática y evitar la repetición manual de HTML.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5133261" y="4922044"/>
            <a:ext cx="170974" cy="2137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300" dirty="0">
                <a:solidFill>
                  <a:srgbClr val="D6D9D7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02</a:t>
            </a:r>
            <a:endParaRPr lang="en-US" sz="1300" dirty="0"/>
          </a:p>
        </p:txBody>
      </p:sp>
      <p:sp>
        <p:nvSpPr>
          <p:cNvPr id="21" name="Shape 17"/>
          <p:cNvSpPr/>
          <p:nvPr/>
        </p:nvSpPr>
        <p:spPr>
          <a:xfrm>
            <a:off x="5133261" y="5189815"/>
            <a:ext cx="4363760" cy="22860"/>
          </a:xfrm>
          <a:prstGeom prst="rect">
            <a:avLst/>
          </a:prstGeom>
          <a:solidFill>
            <a:srgbClr val="AC9EF5"/>
          </a:solidFill>
          <a:ln/>
        </p:spPr>
      </p:sp>
      <p:sp>
        <p:nvSpPr>
          <p:cNvPr id="22" name="Text 18"/>
          <p:cNvSpPr/>
          <p:nvPr/>
        </p:nvSpPr>
        <p:spPr>
          <a:xfrm>
            <a:off x="5133261" y="5321022"/>
            <a:ext cx="4363760" cy="5341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6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Formulario de Contacto (Funcionalidad Externa):</a:t>
            </a:r>
            <a:endParaRPr lang="en-US" sz="1650" dirty="0"/>
          </a:p>
        </p:txBody>
      </p:sp>
      <p:sp>
        <p:nvSpPr>
          <p:cNvPr id="23" name="Text 19"/>
          <p:cNvSpPr/>
          <p:nvPr/>
        </p:nvSpPr>
        <p:spPr>
          <a:xfrm>
            <a:off x="5133261" y="5957649"/>
            <a:ext cx="4363760" cy="820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3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Conectar el formulario a un servicio de terceros (ej. Netlify Forms) para procesar datos sin necesidad de código en el cliente.</a:t>
            </a:r>
            <a:endParaRPr lang="en-US" sz="1300" dirty="0"/>
          </a:p>
        </p:txBody>
      </p:sp>
      <p:sp>
        <p:nvSpPr>
          <p:cNvPr id="24" name="Text 20"/>
          <p:cNvSpPr/>
          <p:nvPr/>
        </p:nvSpPr>
        <p:spPr>
          <a:xfrm>
            <a:off x="9667994" y="4922044"/>
            <a:ext cx="170974" cy="2137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300" dirty="0">
                <a:solidFill>
                  <a:srgbClr val="D6D9D7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03</a:t>
            </a:r>
            <a:endParaRPr lang="en-US" sz="1300" dirty="0"/>
          </a:p>
        </p:txBody>
      </p:sp>
      <p:sp>
        <p:nvSpPr>
          <p:cNvPr id="25" name="Shape 21"/>
          <p:cNvSpPr/>
          <p:nvPr/>
        </p:nvSpPr>
        <p:spPr>
          <a:xfrm>
            <a:off x="9667994" y="5189815"/>
            <a:ext cx="4363760" cy="22860"/>
          </a:xfrm>
          <a:prstGeom prst="rect">
            <a:avLst/>
          </a:prstGeom>
          <a:solidFill>
            <a:srgbClr val="AC9EF5"/>
          </a:solidFill>
          <a:ln/>
        </p:spPr>
      </p:sp>
      <p:sp>
        <p:nvSpPr>
          <p:cNvPr id="26" name="Text 22"/>
          <p:cNvSpPr/>
          <p:nvPr/>
        </p:nvSpPr>
        <p:spPr>
          <a:xfrm>
            <a:off x="9667994" y="5321022"/>
            <a:ext cx="3063954" cy="2670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650" dirty="0">
                <a:solidFill>
                  <a:srgbClr val="D6D9D7"/>
                </a:solidFill>
                <a:latin typeface="DM Sans Medium" pitchFamily="34" charset="0"/>
                <a:ea typeface="DM Sans Medium" pitchFamily="34" charset="-122"/>
                <a:cs typeface="DM Sans Medium" pitchFamily="34" charset="-120"/>
              </a:rPr>
              <a:t>Optimización CSS/UX (Fase 3):</a:t>
            </a:r>
            <a:endParaRPr lang="en-US" sz="1650" dirty="0"/>
          </a:p>
        </p:txBody>
      </p:sp>
      <p:sp>
        <p:nvSpPr>
          <p:cNvPr id="27" name="Text 23"/>
          <p:cNvSpPr/>
          <p:nvPr/>
        </p:nvSpPr>
        <p:spPr>
          <a:xfrm>
            <a:off x="9667994" y="5690592"/>
            <a:ext cx="4363760" cy="820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3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Refinamiento del código CSS para aumentar la modularidad, consistencia, y asegurar la compatibilidad con navegadores más antiguos.</a:t>
            </a:r>
            <a:endParaRPr lang="en-US" sz="1300" dirty="0"/>
          </a:p>
        </p:txBody>
      </p:sp>
      <p:sp>
        <p:nvSpPr>
          <p:cNvPr id="28" name="Text 24"/>
          <p:cNvSpPr/>
          <p:nvPr/>
        </p:nvSpPr>
        <p:spPr>
          <a:xfrm>
            <a:off x="854988" y="7297341"/>
            <a:ext cx="13176885" cy="2734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300" b="1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¡Gracias por su atención!</a:t>
            </a:r>
            <a:pPr algn="l" indent="0" marL="0">
              <a:lnSpc>
                <a:spcPts val="2150"/>
              </a:lnSpc>
              <a:buNone/>
            </a:pPr>
            <a:r>
              <a:rPr lang="en-US" sz="1300" dirty="0">
                <a:solidFill>
                  <a:srgbClr val="D6D9D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Preguntas y Debate Técnico</a:t>
            </a:r>
            <a:endParaRPr lang="en-US" sz="1300" dirty="0"/>
          </a:p>
        </p:txBody>
      </p:sp>
      <p:sp>
        <p:nvSpPr>
          <p:cNvPr id="29" name="Shape 25"/>
          <p:cNvSpPr/>
          <p:nvPr/>
        </p:nvSpPr>
        <p:spPr>
          <a:xfrm>
            <a:off x="598527" y="7105055"/>
            <a:ext cx="22860" cy="658058"/>
          </a:xfrm>
          <a:prstGeom prst="rect">
            <a:avLst/>
          </a:prstGeom>
          <a:solidFill>
            <a:srgbClr val="AC9EF5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2025-10-14T21:16:36Z</dcterms:created>
  <dcterms:modified xsi:type="dcterms:W3CDTF">2025-10-14T21:16:36Z</dcterms:modified>
</cp:coreProperties>
</file>